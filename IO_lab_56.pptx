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6" r:id="rId7"/>
    <p:sldId id="258" r:id="rId8"/>
    <p:sldId id="262" r:id="rId9"/>
    <p:sldId id="263" r:id="rId10"/>
    <p:sldId id="264" r:id="rId11"/>
    <p:sldId id="259" r:id="rId12"/>
    <p:sldId id="260" r:id="rId13"/>
    <p:sldId id="261" r:id="rId14"/>
    <p:sldId id="265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C3FF6-7B91-21FA-AD65-C36D808A0DA8}" v="2" dt="2025-12-18T10:25:19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walczyk Laura" userId="S::u56583@student.wat.edu.pl::0a190796-82f8-4b78-b549-0a14f15a62b8" providerId="AD" clId="Web-{45DC3FF6-7B91-21FA-AD65-C36D808A0DA8}"/>
    <pc:docChg chg="modSld">
      <pc:chgData name="Kowalczyk Laura" userId="S::u56583@student.wat.edu.pl::0a190796-82f8-4b78-b549-0a14f15a62b8" providerId="AD" clId="Web-{45DC3FF6-7B91-21FA-AD65-C36D808A0DA8}" dt="2025-12-18T10:25:19.192" v="1" actId="20577"/>
      <pc:docMkLst>
        <pc:docMk/>
      </pc:docMkLst>
      <pc:sldChg chg="modSp">
        <pc:chgData name="Kowalczyk Laura" userId="S::u56583@student.wat.edu.pl::0a190796-82f8-4b78-b549-0a14f15a62b8" providerId="AD" clId="Web-{45DC3FF6-7B91-21FA-AD65-C36D808A0DA8}" dt="2025-12-18T10:25:19.192" v="1" actId="20577"/>
        <pc:sldMkLst>
          <pc:docMk/>
          <pc:sldMk cId="4289239829" sldId="265"/>
        </pc:sldMkLst>
        <pc:spChg chg="mod">
          <ac:chgData name="Kowalczyk Laura" userId="S::u56583@student.wat.edu.pl::0a190796-82f8-4b78-b549-0a14f15a62b8" providerId="AD" clId="Web-{45DC3FF6-7B91-21FA-AD65-C36D808A0DA8}" dt="2025-12-18T10:25:19.192" v="1" actId="20577"/>
          <ac:spMkLst>
            <pc:docMk/>
            <pc:sldMk cId="4289239829" sldId="265"/>
            <ac:spMk id="3" creationId="{0644FA2B-1BCB-783C-EB68-8D096FFA9E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BFDB41-4F6E-2A26-4F41-B85AC3DD1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69133C-01FB-3D74-F2E9-2D2142B42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713F31D-15C1-789D-AA4A-8F49E256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C5B1064-398D-C0C3-AA6C-4A1510F7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138429F-491C-6046-0212-92A2CCB3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375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84B74C-ACD4-D63E-3ADD-207D56CD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053D79-940A-43AD-A97F-E0DF7D02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D417339-618C-CBDD-F9FC-BE4B5E8C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2F551C-C40E-3C14-EA78-0DACEFEA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03E9775-8788-36D4-FBB5-74A19B8B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744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C44732-64D2-1EDF-FCA2-20DA8FEE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126069-E283-E52F-DCC8-510A9618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F93829C-14BA-94E6-32F6-90B7EF60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F895DB-0D8F-F339-1244-B9A1D5A52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ADB812-65B6-3C20-219B-1E03AA86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902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DA6E55-69B9-10B7-7227-D3A4EC030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BBDA49-2940-B6C8-9F78-13635D9D6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25543F3-4BF1-F985-DF37-AEC96A87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28F3324-6458-22FA-35C4-6D41295F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4F5B796-89E7-5225-4522-5AF2748A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69D30C4-4BB9-0BBC-8DBA-51CC35D9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251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8F443F-741E-FE3C-E498-85FD18C92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AEC0240-F354-35A7-B499-26563103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6BD58F4-D7FA-2D97-3000-C3518184D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3DB430C-4402-3F13-B584-45443D92A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822D7DB-B4CB-E6C6-5A69-BA21C6FF5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D84924A-7E9D-2E3A-35EF-894A0208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F35078E-F4F4-7870-E24F-D01F89C8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6F92160-71F3-5EA0-0F57-26780F56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474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CEAC98-9749-6BA4-8CEB-A4291F41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378AF7E-75A0-2CA4-7303-DC10E0B0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EB10BBB-B09A-0073-6A81-6B0073A2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9A752D3-A15B-EFE5-90BE-5B57379A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595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2831A84-AD49-2BA6-10E2-5EEE121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3B9E98A-1989-FC56-FAB6-824610FD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6AE6501-C369-8F1D-0192-89AC84EB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709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4B9EE2-5950-3BE9-58FB-2F0828DF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8C73EF-2BC7-BFED-78CC-2735BC6DB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E6DB51A-01B9-0514-AC47-07646A98E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2834A34-9674-D036-1A4B-1094D02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439B95B-3621-F18E-667A-D83865F3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08DE5FE-C87C-C7D8-5166-08D5DF5A5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802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20A859-44B3-CE3B-8238-72899A9BB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31D7AB2-4380-1507-2821-9054AFB23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A378CCC-6FD2-58F2-0DAF-F1AED2768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3E10D7A-9FB1-DA2E-9352-43002906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9D7F5FB-F7A0-4375-37CA-EB518B31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48805B8-0B7F-681F-6E88-A6FE3E1B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183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F0B599-2288-416D-F800-E19AB803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F8C3C6B-75A8-5F37-43D5-406C437D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B1B573E-AFFD-4B96-F925-0F0C617C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DFC439C-8A79-D691-D137-089EA8A8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636FE5-4FA4-9ADE-2933-6E1C08C7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048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DE2F0DF-31EA-F016-B658-C14CA5048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0E1A927-ABF9-218F-5BA8-9DBEF8436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8D4C643-3316-6C9F-6BE0-E4D3BE40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A4AF7C-C40E-CA2C-4A90-CE3538E9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4DCFA2-B6E8-58DC-04DE-3782AB63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657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2FF9860-2739-A6EF-D068-13A826AC9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4557960-9B17-11A7-C67C-80C5737DB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A5E3289-5F7F-2C88-14D6-16943BC3B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34E93-0CB2-4205-9E16-665767447F56}" type="datetimeFigureOut">
              <a:rPr lang="pl-PL" smtClean="0"/>
              <a:t>18.12.2025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98E8A9A-06F0-4575-31D3-AFAF59FF1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871FDBE-2FDB-CA7F-F61E-8135E9D14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96D31-42CF-4E17-BB10-21BBF21871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861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-scm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F2FE44-E615-8BF3-79C0-C25B91508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Inżynieria oprogramowania	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7B3D24C-675B-1CA8-F2E8-258C1FBF6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4958" y="5606979"/>
            <a:ext cx="4036088" cy="494881"/>
          </a:xfrm>
        </p:spPr>
        <p:txBody>
          <a:bodyPr/>
          <a:lstStyle/>
          <a:p>
            <a:r>
              <a:rPr lang="pl-PL"/>
              <a:t>kpt. Paweł Pieczonka</a:t>
            </a:r>
          </a:p>
        </p:txBody>
      </p:sp>
    </p:spTree>
    <p:extLst>
      <p:ext uri="{BB962C8B-B14F-4D97-AF65-F5344CB8AC3E}">
        <p14:creationId xmlns:p14="http://schemas.microsoft.com/office/powerpoint/2010/main" val="17448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9CAE7A-2799-05B3-D4EB-621DD948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Git– wprowadzenie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5A43B7-7584-75CD-D39A-52EBB5762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l-PL" b="1"/>
              <a:t>Git</a:t>
            </a:r>
            <a:r>
              <a:rPr lang="pl-PL"/>
              <a:t> – to rozproszony system kontroli wersji stworzony przez Linusa </a:t>
            </a:r>
            <a:r>
              <a:rPr lang="pl-PL" err="1"/>
              <a:t>Torvaldsa</a:t>
            </a:r>
            <a:r>
              <a:rPr lang="pl-PL"/>
              <a:t> do zarządzania kodem źródłowym. Umożliwia śledzenie zmian w plikach, przywracanie wcześniejszych wersji i współpracę wielu osób nad jednym projektem. Każdy użytkownik ma lokalne repozytorium z pełną historią, co pozwala na pracę offline i szybkie operacje.</a:t>
            </a:r>
          </a:p>
          <a:p>
            <a:endParaRPr lang="pl-PL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F0A74A4-69DB-FDA5-BEEE-64F9860EA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738" y="4099284"/>
            <a:ext cx="5726723" cy="239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33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98142A-2570-42E8-B433-F695AC31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Narzędzia do </a:t>
            </a:r>
            <a:r>
              <a:rPr lang="pl-PL" err="1"/>
              <a:t>hostowania</a:t>
            </a:r>
            <a:r>
              <a:rPr lang="pl-PL"/>
              <a:t> kodu opartego o system kontroli wersji GIT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F910B06-78B5-3223-DFE1-2FCCE6CB00E0}"/>
              </a:ext>
            </a:extLst>
          </p:cNvPr>
          <p:cNvSpPr txBox="1"/>
          <p:nvPr/>
        </p:nvSpPr>
        <p:spPr>
          <a:xfrm>
            <a:off x="838200" y="1580055"/>
            <a:ext cx="8947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Platforma umożliwiająca zdalne przechowywanie, zarządzanie i współdzielenie kodu źródłowego z wykorzystaniem systemu kontroli wersji Git. Umożliwia śledzenie zmian w kodzie, współpracę zespołową, tworzenie gałęzi (</a:t>
            </a:r>
            <a:r>
              <a:rPr lang="pl-PL" err="1"/>
              <a:t>branchy</a:t>
            </a:r>
            <a:r>
              <a:rPr lang="pl-PL"/>
              <a:t>), przeglądanie i zatwierdzanie zmian (</a:t>
            </a:r>
            <a:r>
              <a:rPr lang="pl-PL" err="1"/>
              <a:t>pull</a:t>
            </a:r>
            <a:r>
              <a:rPr lang="pl-PL"/>
              <a:t>/</a:t>
            </a:r>
            <a:r>
              <a:rPr lang="pl-PL" err="1"/>
              <a:t>merge</a:t>
            </a:r>
            <a:r>
              <a:rPr lang="pl-PL"/>
              <a:t> </a:t>
            </a:r>
            <a:r>
              <a:rPr lang="pl-PL" err="1"/>
              <a:t>requests</a:t>
            </a:r>
            <a:r>
              <a:rPr lang="pl-PL"/>
              <a:t>) oraz integrację z narzędziami CI/CD i zarządzania projektami.</a:t>
            </a:r>
          </a:p>
          <a:p>
            <a:r>
              <a:rPr lang="pl-PL"/>
              <a:t>Przykłady: </a:t>
            </a:r>
            <a:r>
              <a:rPr lang="pl-PL" err="1"/>
              <a:t>Bitbucket</a:t>
            </a:r>
            <a:r>
              <a:rPr lang="pl-PL"/>
              <a:t>, </a:t>
            </a:r>
            <a:r>
              <a:rPr lang="pl-PL" err="1"/>
              <a:t>Github</a:t>
            </a:r>
            <a:r>
              <a:rPr lang="pl-PL"/>
              <a:t>, </a:t>
            </a:r>
            <a:r>
              <a:rPr lang="pl-PL" err="1"/>
              <a:t>Gitlab</a:t>
            </a:r>
            <a:r>
              <a:rPr lang="pl-PL"/>
              <a:t>, </a:t>
            </a:r>
            <a:r>
              <a:rPr lang="pl-PL" err="1"/>
              <a:t>Azure</a:t>
            </a:r>
            <a:r>
              <a:rPr lang="pl-PL"/>
              <a:t> </a:t>
            </a:r>
            <a:r>
              <a:rPr lang="pl-PL" err="1"/>
              <a:t>Repos</a:t>
            </a:r>
            <a:endParaRPr lang="pl-PL"/>
          </a:p>
        </p:txBody>
      </p:sp>
      <p:pic>
        <p:nvPicPr>
          <p:cNvPr id="3076" name="Picture 4" descr="Bitbucket Logo PNG vector in SVG, PDF, AI, CDR format">
            <a:extLst>
              <a:ext uri="{FF2B5EF4-FFF2-40B4-BE49-F238E27FC236}">
                <a16:creationId xmlns:a16="http://schemas.microsoft.com/office/drawing/2014/main" id="{A8C42E64-8B29-612A-1C96-7D23E4E31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5" y="4445901"/>
            <a:ext cx="3404747" cy="255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TReseller | GitLab spada o ponad 35% na giełdzie po publikacji słabej  prognozy przychodów | ITReseller">
            <a:extLst>
              <a:ext uri="{FF2B5EF4-FFF2-40B4-BE49-F238E27FC236}">
                <a16:creationId xmlns:a16="http://schemas.microsoft.com/office/drawing/2014/main" id="{DE23671E-C2DE-5D98-194C-E4FF08696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682" y="3955753"/>
            <a:ext cx="6078423" cy="23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end for Azure Repos">
            <a:extLst>
              <a:ext uri="{FF2B5EF4-FFF2-40B4-BE49-F238E27FC236}">
                <a16:creationId xmlns:a16="http://schemas.microsoft.com/office/drawing/2014/main" id="{550C3113-D3FD-7326-1524-A9F71E9A2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093" y="2841220"/>
            <a:ext cx="2680961" cy="243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Ultimate Guide to GitHub: Everything You Need to Know | by Kazem  Mirzaei | Medium">
            <a:extLst>
              <a:ext uri="{FF2B5EF4-FFF2-40B4-BE49-F238E27FC236}">
                <a16:creationId xmlns:a16="http://schemas.microsoft.com/office/drawing/2014/main" id="{1E5CBE10-654B-F956-8584-F257D485D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57383"/>
            <a:ext cx="3670998" cy="206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48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837083-7ACF-CE8B-7408-B59DE305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Instalacja klienta Git na Windows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78614E-A6CA-9157-77FC-048E3D3ED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l-PL"/>
              <a:t>Aby korzystać z Gita lokalnie w systemie Windows, należy zainstalować </a:t>
            </a:r>
            <a:r>
              <a:rPr lang="pl-PL" b="1"/>
              <a:t>Git for Windows</a:t>
            </a:r>
            <a:r>
              <a:rPr lang="pl-PL"/>
              <a:t> (dostarcza on narzędzia Git oraz opcjonalnie „powłokę” </a:t>
            </a:r>
            <a:r>
              <a:rPr lang="pl-PL" err="1"/>
              <a:t>Bash</a:t>
            </a:r>
            <a:r>
              <a:rPr lang="pl-PL"/>
              <a:t>). </a:t>
            </a:r>
          </a:p>
          <a:p>
            <a:pPr>
              <a:buNone/>
            </a:pPr>
            <a:r>
              <a:rPr lang="pl-PL" b="1"/>
              <a:t>Pobranie i instalacja GIT:</a:t>
            </a:r>
            <a:r>
              <a:rPr lang="pl-PL"/>
              <a:t> </a:t>
            </a:r>
            <a:r>
              <a:rPr lang="pl-PL">
                <a:hlinkClick r:id="rId2"/>
              </a:rPr>
              <a:t>www.git-scm.com</a:t>
            </a:r>
            <a:endParaRPr lang="pl-PL"/>
          </a:p>
          <a:p>
            <a:pPr>
              <a:buNone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022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E99C38-415D-7F1E-A03E-C5DD230F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Podstawowe pojęcia i operacje Git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0D4371-8A65-D68B-DB07-35CE97D41E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9487"/>
            <a:ext cx="925034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(repozytorium):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Baza kodu śledzona przez Gita, zawierająca historię wszystkich zmian. Repozytorium może być lokalne (na Twoim dysku) lub zdalne (np. na GitHubie). Klonując projekt, otrzymujemy pełną kopię repozytorium z całą historią.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(zatwierdzenie):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Migawka stanu projektu, czyli zapis zmian wprowadzonych do plików. Każdy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unikalny identyfikator (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 zawiera opis (komunikat).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Commity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tworzą historię projektu – można je traktować jak kolejne </a:t>
            </a:r>
            <a:r>
              <a:rPr kumimoji="0" lang="pl-PL" altLang="pl-PL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wersje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kodu​. W praktyce wykonujemy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poleceniem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commit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-m "opis zmian"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aby dodać bieżące zmiany (uprzednio </a:t>
            </a:r>
            <a:r>
              <a:rPr kumimoji="0" lang="pl-PL" altLang="pl-PL" sz="20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staged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do historii. </a:t>
            </a:r>
            <a:r>
              <a:rPr kumimoji="0" lang="pl-PL" altLang="pl-PL" sz="20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pl-PL" altLang="pl-PL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jest tworzony lokalnie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dopiero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wysyła go na serwer.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(wypchnięcie zmian):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Wysłanie lokalnych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commitów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zdalnego repozytorium (np. na GitHub).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przenosi nowe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commity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 Twojej lokalnej gałęzi do odpowiadającej gałęzi na serwerze. Typowe polecenie to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origin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(wysyła bieżącą gałąź </a:t>
            </a:r>
            <a:r>
              <a:rPr kumimoji="0" lang="pl-PL" altLang="pl-PL" sz="20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zdalnego </a:t>
            </a:r>
            <a:r>
              <a:rPr kumimoji="0" lang="pl-PL" altLang="pl-PL" sz="20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Po wykonaniu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inni członkowie zespołu mogą pobrać te zmiany.</a:t>
            </a:r>
          </a:p>
        </p:txBody>
      </p:sp>
    </p:spTree>
    <p:extLst>
      <p:ext uri="{BB962C8B-B14F-4D97-AF65-F5344CB8AC3E}">
        <p14:creationId xmlns:p14="http://schemas.microsoft.com/office/powerpoint/2010/main" val="190784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7DC2DB-ADFB-D078-D16A-44ECB023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Podstawowe pojęcia i operacje Git cd.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BEF20E-C3CB-53F3-A23E-EB23F1A2A7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0671"/>
            <a:ext cx="997382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(pobranie zmian):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Aktualizacja lokalnego repozytorium o zmiany z repozytorium zdalnego. Polecenie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pull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pobiera najnowsze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commity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z serwera i integruje je z Twoją bieżącą gałęzią​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Technicznie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pull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fetch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merge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(albo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rebase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zależnie od konfiguracji)​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Należy regularnie robić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aby mieć aktualny kod i uniknąć konfliktów.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(gałąź):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Równoległa linia rozwoju projektu. Gałęzie pozwalają pracować nad różnymi funkcjonalnościami niezależnie. 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Gałąź główna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(domyślnie nazwana </a:t>
            </a:r>
            <a:r>
              <a:rPr kumimoji="0" lang="pl-PL" altLang="pl-PL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lub </a:t>
            </a:r>
            <a:r>
              <a:rPr kumimoji="0" lang="pl-PL" altLang="pl-PL" sz="20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zawiera zwykle stabilny kod, a nowe funkcje/naprawy tworzy się na osobnych gałęziach, które potem się scala (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z powrotem do głównej. Gałąź w Git to po prostu wskaźnik na konkretny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tworzenie nowej gałęzi (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branch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&lt;nazwa&gt;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oznacza rozpoczęcie nowej historii od bieżącego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commitu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843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AB7504-3B9D-1158-EFAD-606EC5C7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Podstawowe pojęcia i operacje Git cd.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3CB483-5DCB-1E2C-453C-91647CE477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46804"/>
            <a:ext cx="1060687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(scalenie):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Połączenie zmian z jednej gałęzi do drugiej. Kiedy gotowa funkcja na gałęzi pobocznej ma trafić do głównej, wykonuje się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merge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– scala historię dwóch gałęzi w jeden wspólny ciąg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commitów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​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Jeśli zmiany nie kolidują, Git automatycznie utworzy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scalający. W przypadku edycji tych samych fragmentów plików może wystąpić 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konflikt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który trzeba rozwiązać ręcznie (edytując plik i usuwając znaczniki konfliktu).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nie kasuje historii – zachowuje wszystkie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commity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 obu gałęzi.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 </a:t>
            </a: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(wymuszone wypchnięcie):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Opcja 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force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do polecenia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używana najczęściej po przepisaniu historii (np.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rebase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lub reset). 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 </a:t>
            </a: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nadpisuje historię zdalnej gałęzi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stanem lokalnym, co może spowodować utratę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commitów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których nie masz lokalnie. Innymi słowy, </a:t>
            </a:r>
            <a:r>
              <a:rPr kumimoji="0" lang="pl-PL" altLang="pl-PL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wypycha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zmiany nawet jeśli normalny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zostałby odrzucony (np. gdy repozytorium zdalne ma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commity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których brakuje u Ciebie). Force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bywa potrzebny, gdy poprawiamy historię, ale 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jest niebezpieczny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należy go używać tylko na własnych gałęziach, których nikt inny jeszcze nie pobrał. Na współdzielonych </a:t>
            </a:r>
            <a:r>
              <a:rPr kumimoji="0" lang="pl-PL" altLang="pl-PL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branchach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(szczególnie </a:t>
            </a:r>
            <a:r>
              <a:rPr kumimoji="0" lang="pl-PL" altLang="pl-PL" sz="20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nie powinno się używać </a:t>
            </a: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kumimoji="0" lang="pl-PL" altLang="pl-PL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pl-PL" altLang="pl-PL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bo ryzykujemy usunięcie cudzych pracy</a:t>
            </a:r>
          </a:p>
        </p:txBody>
      </p:sp>
    </p:spTree>
    <p:extLst>
      <p:ext uri="{BB962C8B-B14F-4D97-AF65-F5344CB8AC3E}">
        <p14:creationId xmlns:p14="http://schemas.microsoft.com/office/powerpoint/2010/main" val="118367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5FE0ED-D230-4FBA-F32E-DC3DEDF8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Git w </a:t>
            </a:r>
            <a:r>
              <a:rPr lang="pl-PL" err="1"/>
              <a:t>IntelliJ</a:t>
            </a:r>
            <a:r>
              <a:rPr lang="pl-PL"/>
              <a:t> IDEA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98E3E3-189C-1CDB-E52E-86EC9CDF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l-PL" b="1" err="1"/>
              <a:t>IntelliJ</a:t>
            </a:r>
            <a:r>
              <a:rPr lang="pl-PL" b="1"/>
              <a:t> IDEA</a:t>
            </a:r>
            <a:r>
              <a:rPr lang="pl-PL"/>
              <a:t> oraz inne IDE od </a:t>
            </a:r>
            <a:r>
              <a:rPr lang="pl-PL" err="1"/>
              <a:t>JetBrains</a:t>
            </a:r>
            <a:r>
              <a:rPr lang="pl-PL"/>
              <a:t> (</a:t>
            </a:r>
            <a:r>
              <a:rPr lang="pl-PL" err="1"/>
              <a:t>PyCharm</a:t>
            </a:r>
            <a:r>
              <a:rPr lang="pl-PL"/>
              <a:t>, </a:t>
            </a:r>
            <a:r>
              <a:rPr lang="pl-PL" err="1"/>
              <a:t>WebStorm</a:t>
            </a:r>
            <a:r>
              <a:rPr lang="pl-PL"/>
              <a:t> itp.) również mają rozbudowaną obsługę Gita. Po zainstalowaniu Gita na komputerze, </a:t>
            </a:r>
            <a:r>
              <a:rPr lang="pl-PL" err="1"/>
              <a:t>IntelliJ</a:t>
            </a:r>
            <a:r>
              <a:rPr lang="pl-PL"/>
              <a:t> automatycznie wykrywa repozytorium w folderze projektu i udostępnia narzędzia kontroli wersji.</a:t>
            </a:r>
          </a:p>
        </p:txBody>
      </p:sp>
      <p:sp>
        <p:nvSpPr>
          <p:cNvPr id="4" name="AutoShape 2" descr="Commit and push changes to Git repository | IntelliJ IDEA Documentation">
            <a:extLst>
              <a:ext uri="{FF2B5EF4-FFF2-40B4-BE49-F238E27FC236}">
                <a16:creationId xmlns:a16="http://schemas.microsoft.com/office/drawing/2014/main" id="{2300A71B-C4F1-295C-1F97-9957A9AA8E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D4DA2D01-9A12-06B8-0017-4D0261ED5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966" y="1464800"/>
            <a:ext cx="5488753" cy="423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3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068944-DED2-E508-D131-023D3AB71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Git w narzędziach </a:t>
            </a:r>
            <a:r>
              <a:rPr lang="pl-PL" err="1"/>
              <a:t>JetBrains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0BDBFA-CA52-CD0E-A57D-FCEDCB61C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pl-PL" i="1"/>
              <a:t>Okno narzędzi </a:t>
            </a:r>
            <a:r>
              <a:rPr lang="pl-PL" b="1" i="1" err="1"/>
              <a:t>Commit</a:t>
            </a:r>
            <a:r>
              <a:rPr lang="pl-PL" i="1"/>
              <a:t> w </a:t>
            </a:r>
            <a:r>
              <a:rPr lang="pl-PL" i="1" err="1"/>
              <a:t>IntelliJ</a:t>
            </a:r>
            <a:r>
              <a:rPr lang="pl-PL" i="1"/>
              <a:t> – pokazuje listę zmian (plików) w projekcie, pole na opis </a:t>
            </a:r>
            <a:r>
              <a:rPr lang="pl-PL" i="1" err="1"/>
              <a:t>commita</a:t>
            </a:r>
            <a:r>
              <a:rPr lang="pl-PL" i="1"/>
              <a:t> oraz przyciski </a:t>
            </a:r>
            <a:r>
              <a:rPr lang="pl-PL" i="1" err="1"/>
              <a:t>Commit</a:t>
            </a:r>
            <a:r>
              <a:rPr lang="pl-PL" i="1"/>
              <a:t> i </a:t>
            </a:r>
            <a:r>
              <a:rPr lang="pl-PL" i="1" err="1"/>
              <a:t>Commit</a:t>
            </a:r>
            <a:r>
              <a:rPr lang="pl-PL" i="1"/>
              <a:t> and </a:t>
            </a:r>
            <a:r>
              <a:rPr lang="pl-PL" i="1" err="1"/>
              <a:t>Push</a:t>
            </a:r>
            <a:r>
              <a:rPr lang="pl-PL" i="1"/>
              <a:t>.</a:t>
            </a:r>
            <a:r>
              <a:rPr lang="pl-PL"/>
              <a:t> Praca z Gitem w </a:t>
            </a:r>
            <a:r>
              <a:rPr lang="pl-PL" err="1"/>
              <a:t>IntelliJ</a:t>
            </a:r>
            <a:r>
              <a:rPr lang="pl-PL"/>
              <a:t> przebiega następująco: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/>
              <a:t>Widok zmian:</a:t>
            </a:r>
            <a:r>
              <a:rPr lang="pl-PL"/>
              <a:t> Dolny panel </a:t>
            </a:r>
            <a:r>
              <a:rPr lang="pl-PL" i="1"/>
              <a:t>Version Control</a:t>
            </a:r>
            <a:r>
              <a:rPr lang="pl-PL"/>
              <a:t> -&gt; zakładka </a:t>
            </a:r>
            <a:r>
              <a:rPr lang="pl-PL" b="1" err="1"/>
              <a:t>Local</a:t>
            </a:r>
            <a:r>
              <a:rPr lang="pl-PL" b="1"/>
              <a:t> </a:t>
            </a:r>
            <a:r>
              <a:rPr lang="pl-PL" b="1" err="1"/>
              <a:t>Changes</a:t>
            </a:r>
            <a:r>
              <a:rPr lang="pl-PL"/>
              <a:t> (lub okno </a:t>
            </a:r>
            <a:r>
              <a:rPr lang="pl-PL" err="1"/>
              <a:t>Commit</a:t>
            </a:r>
            <a:r>
              <a:rPr lang="pl-PL"/>
              <a:t>) wyświetla zmodyfikowane pliki. Można zaznaczać które zmiany mają być zatwierdzone.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err="1"/>
              <a:t>Commit</a:t>
            </a:r>
            <a:r>
              <a:rPr lang="pl-PL" b="1"/>
              <a:t>:</a:t>
            </a:r>
            <a:r>
              <a:rPr lang="pl-PL"/>
              <a:t> Po wpisaniu wiadomości w polu </a:t>
            </a:r>
            <a:r>
              <a:rPr lang="pl-PL" i="1" err="1"/>
              <a:t>Commit</a:t>
            </a:r>
            <a:r>
              <a:rPr lang="pl-PL" i="1"/>
              <a:t> Message</a:t>
            </a:r>
            <a:r>
              <a:rPr lang="pl-PL"/>
              <a:t> i włączeniu ewentualnych opcji (np. </a:t>
            </a:r>
            <a:r>
              <a:rPr lang="pl-PL" b="1" err="1"/>
              <a:t>Amend</a:t>
            </a:r>
            <a:r>
              <a:rPr lang="pl-PL"/>
              <a:t> do edycji ostatniego </a:t>
            </a:r>
            <a:r>
              <a:rPr lang="pl-PL" err="1"/>
              <a:t>commita</a:t>
            </a:r>
            <a:r>
              <a:rPr lang="pl-PL"/>
              <a:t>), kliknij przycisk </a:t>
            </a:r>
            <a:r>
              <a:rPr lang="pl-PL" b="1" err="1"/>
              <a:t>Commit</a:t>
            </a:r>
            <a:r>
              <a:rPr lang="pl-PL"/>
              <a:t> aby wykonać </a:t>
            </a:r>
            <a:r>
              <a:rPr lang="pl-PL" err="1"/>
              <a:t>commit</a:t>
            </a:r>
            <a:r>
              <a:rPr lang="pl-PL"/>
              <a:t> lokalnie. </a:t>
            </a:r>
            <a:r>
              <a:rPr lang="pl-PL" err="1"/>
              <a:t>IntelliJ</a:t>
            </a:r>
            <a:r>
              <a:rPr lang="pl-PL"/>
              <a:t> może przed </a:t>
            </a:r>
            <a:r>
              <a:rPr lang="pl-PL" err="1"/>
              <a:t>committem</a:t>
            </a:r>
            <a:r>
              <a:rPr lang="pl-PL"/>
              <a:t> przeprowadzić inspekcję kodu lub formatowanie, jeśli tak ustawisz.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err="1"/>
              <a:t>Push</a:t>
            </a:r>
            <a:r>
              <a:rPr lang="pl-PL" b="1"/>
              <a:t>:</a:t>
            </a:r>
            <a:r>
              <a:rPr lang="pl-PL"/>
              <a:t> Aby wysłać lokalne </a:t>
            </a:r>
            <a:r>
              <a:rPr lang="pl-PL" err="1"/>
              <a:t>commity</a:t>
            </a:r>
            <a:r>
              <a:rPr lang="pl-PL"/>
              <a:t> na serwer (np. GitHub), użyj opcji </a:t>
            </a:r>
            <a:r>
              <a:rPr lang="pl-PL" b="1"/>
              <a:t>VCS -&gt; Git -&gt; </a:t>
            </a:r>
            <a:r>
              <a:rPr lang="pl-PL" b="1" err="1"/>
              <a:t>Push</a:t>
            </a:r>
            <a:r>
              <a:rPr lang="pl-PL"/>
              <a:t> lub przycisku </a:t>
            </a:r>
            <a:r>
              <a:rPr lang="pl-PL" b="1" err="1"/>
              <a:t>Commit</a:t>
            </a:r>
            <a:r>
              <a:rPr lang="pl-PL" b="1"/>
              <a:t> and </a:t>
            </a:r>
            <a:r>
              <a:rPr lang="pl-PL" b="1" err="1"/>
              <a:t>Push</a:t>
            </a:r>
            <a:r>
              <a:rPr lang="pl-PL" b="1"/>
              <a:t>...</a:t>
            </a:r>
            <a:r>
              <a:rPr lang="pl-PL"/>
              <a:t>. Pojawi się okno potwierdzające, które </a:t>
            </a:r>
            <a:r>
              <a:rPr lang="pl-PL" err="1"/>
              <a:t>commity</a:t>
            </a:r>
            <a:r>
              <a:rPr lang="pl-PL"/>
              <a:t> i na jaki zdalny </a:t>
            </a:r>
            <a:r>
              <a:rPr lang="pl-PL" err="1"/>
              <a:t>branch</a:t>
            </a:r>
            <a:r>
              <a:rPr lang="pl-PL"/>
              <a:t> zostaną wysłane.</a:t>
            </a: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038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B7450D-FBB0-A534-B842-B31028D9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Git w narzędziach </a:t>
            </a:r>
            <a:r>
              <a:rPr lang="pl-PL" err="1"/>
              <a:t>JetBrains</a:t>
            </a:r>
            <a:r>
              <a:rPr lang="pl-PL"/>
              <a:t> cd.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5FCD86-A290-CE4C-5186-1A901D14C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4674"/>
            <a:ext cx="1062621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/Update: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Opcja </a:t>
            </a: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VCS -&gt; Git -&gt; </a:t>
            </a:r>
            <a:r>
              <a:rPr kumimoji="0" lang="pl-PL" altLang="pl-PL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pobiera zmiany z zdalnego repozytorium i scala je z bieżącą gałęzią (domyślnie poprzez </a:t>
            </a:r>
            <a:r>
              <a:rPr kumimoji="0" lang="pl-PL" altLang="pl-PL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lub </a:t>
            </a:r>
            <a:r>
              <a:rPr kumimoji="0" lang="pl-PL" altLang="pl-PL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rebase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 zależności od konfiguracji).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Rozwiązywanie konfliktów: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 razie konfliktu przy scalaniu, </a:t>
            </a:r>
            <a:r>
              <a:rPr kumimoji="0" lang="pl-PL" altLang="pl-PL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wyświetli czytelny interfejs do porównania i wyboru zmian z poszczególnych wersji pliku.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Gałęzie: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 dołu, w prawym rogu, widoczna jest aktualna gałąź. Klikając na nazwę, można przełączać gałęzie, tworzyć nowe (</a:t>
            </a: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pl-PL" altLang="pl-PL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branch</a:t>
            </a:r>
            <a:r>
              <a:rPr kumimoji="0" lang="pl-PL" altLang="pl-PL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czy dokonać </a:t>
            </a:r>
            <a:r>
              <a:rPr kumimoji="0" lang="pl-PL" altLang="pl-PL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checkout</a:t>
            </a:r>
            <a:r>
              <a:rPr kumimoji="0" lang="pl-PL" altLang="pl-P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istniejącej gałęzi.</a:t>
            </a:r>
          </a:p>
        </p:txBody>
      </p:sp>
      <p:pic>
        <p:nvPicPr>
          <p:cNvPr id="2052" name="Picture 4" descr="IntelliJ IDEA 2016.3 EAP: Faster Git Log, Parameter Hints and More | The  IntelliJ IDEA Blog">
            <a:extLst>
              <a:ext uri="{FF2B5EF4-FFF2-40B4-BE49-F238E27FC236}">
                <a16:creationId xmlns:a16="http://schemas.microsoft.com/office/drawing/2014/main" id="{BCB0EAD3-0C41-AC48-638D-65DBEA2C7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728" y="3699231"/>
            <a:ext cx="7406006" cy="2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261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9EDE67-64C3-864F-37AD-1F152D65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Zadanie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44FA2B-1BCB-783C-EB68-8D096FFA9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119" y="1343843"/>
            <a:ext cx="11707761" cy="52339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Utworzyć wspólne repozytorium na GitHub</a:t>
            </a:r>
          </a:p>
          <a:p>
            <a:r>
              <a:rPr lang="pl-PL"/>
              <a:t>Ustawić w </a:t>
            </a:r>
            <a:r>
              <a:rPr lang="pl-PL" err="1"/>
              <a:t>Github</a:t>
            </a:r>
            <a:r>
              <a:rPr lang="pl-PL"/>
              <a:t> następujące polityki ochrony gałęzi (</a:t>
            </a:r>
            <a:r>
              <a:rPr lang="pl-PL" err="1"/>
              <a:t>branch</a:t>
            </a:r>
            <a:r>
              <a:rPr lang="pl-PL"/>
              <a:t> </a:t>
            </a:r>
            <a:r>
              <a:rPr lang="pl-PL" err="1"/>
              <a:t>protection</a:t>
            </a:r>
            <a:r>
              <a:rPr lang="pl-PL"/>
              <a:t>):</a:t>
            </a:r>
          </a:p>
          <a:p>
            <a:pPr lvl="1"/>
            <a:r>
              <a:rPr lang="pl-PL" err="1"/>
              <a:t>Require</a:t>
            </a:r>
            <a:r>
              <a:rPr lang="pl-PL"/>
              <a:t> a </a:t>
            </a:r>
            <a:r>
              <a:rPr lang="pl-PL" err="1"/>
              <a:t>pull</a:t>
            </a:r>
            <a:r>
              <a:rPr lang="pl-PL"/>
              <a:t> </a:t>
            </a:r>
            <a:r>
              <a:rPr lang="pl-PL" err="1"/>
              <a:t>request</a:t>
            </a:r>
            <a:r>
              <a:rPr lang="pl-PL"/>
              <a:t> </a:t>
            </a:r>
            <a:r>
              <a:rPr lang="pl-PL" err="1"/>
              <a:t>before</a:t>
            </a:r>
            <a:r>
              <a:rPr lang="pl-PL"/>
              <a:t> </a:t>
            </a:r>
            <a:r>
              <a:rPr lang="pl-PL" err="1"/>
              <a:t>merging</a:t>
            </a:r>
            <a:r>
              <a:rPr lang="pl-PL"/>
              <a:t> (wymagaj PR zamiast bezpośrednich </a:t>
            </a:r>
            <a:r>
              <a:rPr lang="pl-PL" err="1"/>
              <a:t>pushy</a:t>
            </a:r>
            <a:r>
              <a:rPr lang="pl-PL"/>
              <a:t> do </a:t>
            </a:r>
            <a:r>
              <a:rPr lang="pl-PL" err="1"/>
              <a:t>main</a:t>
            </a:r>
            <a:r>
              <a:rPr lang="pl-PL"/>
              <a:t>),</a:t>
            </a:r>
          </a:p>
          <a:p>
            <a:pPr lvl="1"/>
            <a:r>
              <a:rPr lang="pl-PL" err="1"/>
              <a:t>Require</a:t>
            </a:r>
            <a:r>
              <a:rPr lang="pl-PL"/>
              <a:t> </a:t>
            </a:r>
            <a:r>
              <a:rPr lang="pl-PL" err="1"/>
              <a:t>approvals</a:t>
            </a:r>
            <a:r>
              <a:rPr lang="pl-PL"/>
              <a:t> (np. co najmniej 2 </a:t>
            </a:r>
            <a:r>
              <a:rPr lang="pl-PL" err="1"/>
              <a:t>approve’y</a:t>
            </a:r>
            <a:r>
              <a:rPr lang="pl-PL"/>
              <a:t> recenzenta przed </a:t>
            </a:r>
            <a:r>
              <a:rPr lang="pl-PL" err="1"/>
              <a:t>merge</a:t>
            </a:r>
            <a:r>
              <a:rPr lang="pl-PL"/>
              <a:t>),</a:t>
            </a:r>
          </a:p>
          <a:p>
            <a:pPr lvl="1"/>
            <a:r>
              <a:rPr lang="pl-PL" err="1"/>
              <a:t>Dismiss</a:t>
            </a:r>
            <a:r>
              <a:rPr lang="pl-PL"/>
              <a:t> stale </a:t>
            </a:r>
            <a:r>
              <a:rPr lang="pl-PL" err="1"/>
              <a:t>reviews</a:t>
            </a:r>
            <a:r>
              <a:rPr lang="pl-PL"/>
              <a:t> (jeśli po </a:t>
            </a:r>
            <a:r>
              <a:rPr lang="pl-PL" err="1"/>
              <a:t>review</a:t>
            </a:r>
            <a:r>
              <a:rPr lang="pl-PL"/>
              <a:t> kod się zmieni, wymaga ponownej akceptacji),</a:t>
            </a:r>
            <a:endParaRPr lang="en-US"/>
          </a:p>
          <a:p>
            <a:pPr lvl="1"/>
            <a:r>
              <a:rPr lang="pl-PL"/>
              <a:t>Oraz zablokowanie </a:t>
            </a:r>
            <a:r>
              <a:rPr lang="pl-PL" err="1"/>
              <a:t>force</a:t>
            </a:r>
            <a:r>
              <a:rPr lang="pl-PL"/>
              <a:t> </a:t>
            </a:r>
            <a:r>
              <a:rPr lang="pl-PL" err="1"/>
              <a:t>push</a:t>
            </a:r>
            <a:r>
              <a:rPr lang="pl-PL"/>
              <a:t> i zablokowanie bezpośredniego usuwania gałęzi </a:t>
            </a:r>
            <a:r>
              <a:rPr lang="pl-PL" err="1"/>
              <a:t>main</a:t>
            </a:r>
            <a:r>
              <a:rPr lang="pl-PL"/>
              <a:t>.</a:t>
            </a:r>
          </a:p>
          <a:p>
            <a:r>
              <a:rPr lang="pl-PL"/>
              <a:t>Przygotować sprawozdanie(pdf) przedstawiające </a:t>
            </a:r>
            <a:r>
              <a:rPr lang="pl-PL" err="1"/>
              <a:t>screenshoty</a:t>
            </a:r>
            <a:r>
              <a:rPr lang="pl-PL"/>
              <a:t> potwierdzające działanie każdego punktu polityki ochrony gałęzi (</a:t>
            </a:r>
            <a:r>
              <a:rPr lang="pl-PL" err="1"/>
              <a:t>screenshoty</a:t>
            </a:r>
            <a:r>
              <a:rPr lang="pl-PL"/>
              <a:t> z IDE oraz GitHuba)</a:t>
            </a:r>
          </a:p>
        </p:txBody>
      </p:sp>
    </p:spTree>
    <p:extLst>
      <p:ext uri="{BB962C8B-B14F-4D97-AF65-F5344CB8AC3E}">
        <p14:creationId xmlns:p14="http://schemas.microsoft.com/office/powerpoint/2010/main" val="428923982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e66fd45-6ee4-4d10-8b6a-405ba5b3c3c9" xsi:nil="true"/>
    <lcf76f155ced4ddcb4097134ff3c332f xmlns="42af12d2-2a81-4ccf-98d5-66572ce1fe4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040049E3881A14BA854E53594E61E15" ma:contentTypeVersion="11" ma:contentTypeDescription="Utwórz nowy dokument." ma:contentTypeScope="" ma:versionID="8b46e7b3a5bc19c606fd883c1171b6cc">
  <xsd:schema xmlns:xsd="http://www.w3.org/2001/XMLSchema" xmlns:xs="http://www.w3.org/2001/XMLSchema" xmlns:p="http://schemas.microsoft.com/office/2006/metadata/properties" xmlns:ns2="42af12d2-2a81-4ccf-98d5-66572ce1fe4d" xmlns:ns3="1e66fd45-6ee4-4d10-8b6a-405ba5b3c3c9" targetNamespace="http://schemas.microsoft.com/office/2006/metadata/properties" ma:root="true" ma:fieldsID="29b1ffd7aa1e541f947ca446ff484e28" ns2:_="" ns3:_="">
    <xsd:import namespace="42af12d2-2a81-4ccf-98d5-66572ce1fe4d"/>
    <xsd:import namespace="1e66fd45-6ee4-4d10-8b6a-405ba5b3c3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af12d2-2a81-4ccf-98d5-66572ce1fe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fb4859f3-8bf9-4577-ab03-fd2eede256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6fd45-6ee4-4d10-8b6a-405ba5b3c3c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39b662e-e115-4c53-99e6-221568a17e75}" ma:internalName="TaxCatchAll" ma:showField="CatchAllData" ma:web="1e66fd45-6ee4-4d10-8b6a-405ba5b3c3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2B09C-1ED2-43EC-B6A3-E204CB26DDEE}">
  <ds:schemaRefs>
    <ds:schemaRef ds:uri="1e66fd45-6ee4-4d10-8b6a-405ba5b3c3c9"/>
    <ds:schemaRef ds:uri="42af12d2-2a81-4ccf-98d5-66572ce1fe4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D31235E-FC2A-4A22-B255-3F04C562ED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2100DA-F927-4396-9F5C-E408BE652B01}">
  <ds:schemaRefs>
    <ds:schemaRef ds:uri="1e66fd45-6ee4-4d10-8b6a-405ba5b3c3c9"/>
    <ds:schemaRef ds:uri="42af12d2-2a81-4ccf-98d5-66572ce1fe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Motyw pakietu Office</vt:lpstr>
      <vt:lpstr>Inżynieria oprogramowania </vt:lpstr>
      <vt:lpstr>Git– wprowadzenie</vt:lpstr>
      <vt:lpstr>Narzędzia do hostowania kodu opartego o system kontroli wersji GIT</vt:lpstr>
      <vt:lpstr>Instalacja klienta Git na Windows</vt:lpstr>
      <vt:lpstr>Podstawowe pojęcia i operacje Git</vt:lpstr>
      <vt:lpstr>Podstawowe pojęcia i operacje Git cd.</vt:lpstr>
      <vt:lpstr>Podstawowe pojęcia i operacje Git cd.</vt:lpstr>
      <vt:lpstr>Git w IntelliJ IDEA</vt:lpstr>
      <vt:lpstr>Git w narzędziach JetBrains</vt:lpstr>
      <vt:lpstr>Git w narzędziach JetBrains cd.</vt:lpstr>
      <vt:lpstr>Zadanie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Paweł Pieczonka</dc:creator>
  <cp:revision>1</cp:revision>
  <dcterms:created xsi:type="dcterms:W3CDTF">2025-04-16T19:08:28Z</dcterms:created>
  <dcterms:modified xsi:type="dcterms:W3CDTF">2025-12-18T10:25:26Z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0x010100C040049E3881A14BA854E53594E61E15</vt:lpwstr>
  </property>
  <property fmtid="{D5CDD505-2E9C-101B-9397-08002B2CF9AE}" pid="3" name="MediaServiceImageTags">
    <vt:lpwstr/>
  </property>
</Properties>
</file>